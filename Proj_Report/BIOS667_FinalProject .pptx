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4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</p:sldIdLst>
  <p:sldSz cy="5143500" cx="9144000"/>
  <p:notesSz cx="6858000" cy="9144000"/>
  <p:embeddedFontLst>
    <p:embeddedFont>
      <p:font typeface="Playfair Display"/>
      <p:regular r:id="rId60"/>
      <p:bold r:id="rId61"/>
      <p:italic r:id="rId62"/>
      <p:boldItalic r:id="rId63"/>
    </p:embeddedFont>
    <p:embeddedFont>
      <p:font typeface="Inter"/>
      <p:regular r:id="rId64"/>
      <p:bold r:id="rId65"/>
      <p:italic r:id="rId66"/>
      <p:boldItalic r:id="rId67"/>
    </p:embeddedFont>
    <p:embeddedFont>
      <p:font typeface="Lato"/>
      <p:regular r:id="rId68"/>
      <p:bold r:id="rId69"/>
      <p:italic r:id="rId70"/>
      <p:boldItalic r:id="rId71"/>
    </p:embeddedFont>
    <p:embeddedFont>
      <p:font typeface="Merriweather"/>
      <p:regular r:id="rId72"/>
      <p:bold r:id="rId73"/>
      <p:italic r:id="rId74"/>
      <p:boldItalic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56">
          <p15:clr>
            <a:srgbClr val="A4A3A4"/>
          </p15:clr>
        </p15:guide>
        <p15:guide id="2" pos="514">
          <p15:clr>
            <a:srgbClr val="A4A3A4"/>
          </p15:clr>
        </p15:guide>
      </p15:sldGuideLst>
    </p:ext>
    <p:ext uri="GoogleSlidesCustomDataVersion2">
      <go:slidesCustomData xmlns:go="http://customooxmlschemas.google.com/" r:id="rId76" roundtripDataSignature="AMtx7mhMTv16kO0eL+J8u12XIk3KJwzi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56" orient="horz"/>
        <p:guide pos="5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73" Type="http://schemas.openxmlformats.org/officeDocument/2006/relationships/font" Target="fonts/Merriweather-bold.fntdata"/><Relationship Id="rId72" Type="http://schemas.openxmlformats.org/officeDocument/2006/relationships/font" Target="fonts/Merriweather-regular.fntdata"/><Relationship Id="rId31" Type="http://schemas.openxmlformats.org/officeDocument/2006/relationships/slide" Target="slides/slide23.xml"/><Relationship Id="rId75" Type="http://schemas.openxmlformats.org/officeDocument/2006/relationships/font" Target="fonts/Merriweather-boldItalic.fntdata"/><Relationship Id="rId30" Type="http://schemas.openxmlformats.org/officeDocument/2006/relationships/slide" Target="slides/slide22.xml"/><Relationship Id="rId74" Type="http://schemas.openxmlformats.org/officeDocument/2006/relationships/font" Target="fonts/Merriweather-italic.fntdata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76" Type="http://customschemas.google.com/relationships/presentationmetadata" Target="metadata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Lato-boldItalic.fntdata"/><Relationship Id="rId70" Type="http://schemas.openxmlformats.org/officeDocument/2006/relationships/font" Target="fonts/Lato-italic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PlayfairDisplay-italic.fntdata"/><Relationship Id="rId61" Type="http://schemas.openxmlformats.org/officeDocument/2006/relationships/font" Target="fonts/PlayfairDisplay-bold.fntdata"/><Relationship Id="rId20" Type="http://schemas.openxmlformats.org/officeDocument/2006/relationships/slide" Target="slides/slide12.xml"/><Relationship Id="rId64" Type="http://schemas.openxmlformats.org/officeDocument/2006/relationships/font" Target="fonts/Inter-regular.fntdata"/><Relationship Id="rId63" Type="http://schemas.openxmlformats.org/officeDocument/2006/relationships/font" Target="fonts/PlayfairDisplay-boldItalic.fntdata"/><Relationship Id="rId22" Type="http://schemas.openxmlformats.org/officeDocument/2006/relationships/slide" Target="slides/slide14.xml"/><Relationship Id="rId66" Type="http://schemas.openxmlformats.org/officeDocument/2006/relationships/font" Target="fonts/Inter-italic.fntdata"/><Relationship Id="rId21" Type="http://schemas.openxmlformats.org/officeDocument/2006/relationships/slide" Target="slides/slide13.xml"/><Relationship Id="rId65" Type="http://schemas.openxmlformats.org/officeDocument/2006/relationships/font" Target="fonts/Inter-bold.fntdata"/><Relationship Id="rId24" Type="http://schemas.openxmlformats.org/officeDocument/2006/relationships/slide" Target="slides/slide16.xml"/><Relationship Id="rId68" Type="http://schemas.openxmlformats.org/officeDocument/2006/relationships/font" Target="fonts/Lato-regular.fntdata"/><Relationship Id="rId23" Type="http://schemas.openxmlformats.org/officeDocument/2006/relationships/slide" Target="slides/slide15.xml"/><Relationship Id="rId67" Type="http://schemas.openxmlformats.org/officeDocument/2006/relationships/font" Target="fonts/Inter-boldItalic.fntdata"/><Relationship Id="rId60" Type="http://schemas.openxmlformats.org/officeDocument/2006/relationships/font" Target="fonts/PlayfairDisplay-regular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Lato-bold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ac96e05bc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ac96e05b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aac96e05bc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120da2bfc_7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120da2bfc_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9120da2bfc_7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c96e05bc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aac96e05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ac96e05bc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c96e05bc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c96e05b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ac96e05bc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20da2bfc_7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120da2bfc_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9120da2bfc_7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120da2bfc_7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120da2bfc_7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120da2bfc_7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c96e05bc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aac96e05b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ac96e05bc_0_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bd4ad09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bd4ad0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abbd4ad09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bd4ad094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bbd4ad09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bbd4ad094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bbd4ad094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bbd4ad09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bbd4ad094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120da2bfc_2_10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9120da2bfc_2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120da2bfc_2_10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bd4ad094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bd4ad09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bbd4ad094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bd4ad094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bbd4ad09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bbd4ad094_0_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bd4ad094_0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bd4ad09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7" name="Google Shape;187;g3abbd4ad094_0_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bbd4ad094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bbd4ad09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abbd4ad094_0_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bbd4ad094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bbd4ad09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bbd4ad094_0_1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bbd4ad094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abbd4ad09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abbd4ad094_0_1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bbd4ad094_0_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bbd4ad09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bbd4ad094_0_1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bbd4ad094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abbd4ad09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bbd4ad094_0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bbd4ad094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abbd4ad09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bbd4ad094_0_1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c52f647e1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c52f647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c52f647e1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120da2bf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120da2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9120da2bfc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120da2bfc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9120da2bf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1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Link Function:</a:t>
            </a:r>
            <a:r>
              <a:rPr lang="en-US" sz="11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Logit for binary, Identity for continuous. </a:t>
            </a:r>
            <a:r>
              <a:rPr b="1" lang="en-US" sz="11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Interaction (Visit × Educ):</a:t>
            </a:r>
            <a:r>
              <a:rPr lang="en-US" sz="11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Tests if the rate of cognitive change differs by education level.</a:t>
            </a:r>
            <a:endParaRPr/>
          </a:p>
        </p:txBody>
      </p:sp>
      <p:sp>
        <p:nvSpPr>
          <p:cNvPr id="258" name="Google Shape;258;g39120da2bfc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120da2bfc_2_9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9120da2bfc_2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9120da2bfc_2_9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bbd4ad094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abbd4ad09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abbd4ad094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120da2bfc_2_9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120da2bfc_2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9120da2bfc_2_9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ce6a18cf4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ce6a18cf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ace6a18cf4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ce6a18cf4_0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ce6a18cf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ace6a18cf4_0_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ce6a18cf4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ce6a18cf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ace6a18cf4_0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ce6a18cf4_0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ce6a18cf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ce6a18cf4_0_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120da2bfc_2_9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9120da2bfc_2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9120da2bfc_2_9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120da2bfc_2_10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9120da2bfc_2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9120da2bfc_2_10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52f647e1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c52f647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ac52f647e1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c52f647e1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c52f647e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ac52f647e1_0_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c6ce8ce3b_2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c6ce8ce3b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ac6ce8ce3b_2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c52f647e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ac52f647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ac52f647e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ac96e05bc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ac96e05b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aac96e05bc_0_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c52f647e1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c52f647e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ac52f647e1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c52f647e1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c52f647e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ac52f647e1_0_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c52f647e1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ac52f647e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ac52f647e1_0_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c52f647e1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c52f647e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ac52f647e1_0_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c52f647e1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c52f647e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ac52f647e1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cf2134af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acf2134af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acf2134afa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ac96e05bc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aac96e05b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aac96e05bc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ac96e05bc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ac96e05b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aac96e05bc_0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9120da2bfc_7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9120da2bfc_7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Longitudinal models (GEE, GLMM)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successfully capture within-person change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show consistent education effects.</a:t>
            </a:r>
            <a:endParaRPr/>
          </a:p>
        </p:txBody>
      </p:sp>
      <p:sp>
        <p:nvSpPr>
          <p:cNvPr id="484" name="Google Shape;484;g39120da2bfc_7_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aac96e05bc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aac96e05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aac96e05bc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aac96e05bc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aac96e05b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aac96e05bc_0_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271463" y="127242"/>
            <a:ext cx="8229600" cy="3066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1" type="ftr"/>
          </p:nvPr>
        </p:nvSpPr>
        <p:spPr>
          <a:xfrm>
            <a:off x="271462" y="3485243"/>
            <a:ext cx="4364037" cy="377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1"/>
          <p:cNvSpPr txBox="1"/>
          <p:nvPr>
            <p:ph type="ctrTitle"/>
          </p:nvPr>
        </p:nvSpPr>
        <p:spPr>
          <a:xfrm>
            <a:off x="263525" y="1718235"/>
            <a:ext cx="8619004" cy="451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263525" y="2169924"/>
            <a:ext cx="8619004" cy="141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94BBD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94BBD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2"/>
          <p:cNvSpPr txBox="1"/>
          <p:nvPr>
            <p:ph type="ctrTitle"/>
          </p:nvPr>
        </p:nvSpPr>
        <p:spPr>
          <a:xfrm>
            <a:off x="263525" y="1718235"/>
            <a:ext cx="8619004" cy="4516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" type="subTitle"/>
          </p:nvPr>
        </p:nvSpPr>
        <p:spPr>
          <a:xfrm>
            <a:off x="263525" y="2169924"/>
            <a:ext cx="8619004" cy="141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b="1" i="0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94BBD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94BBDF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94BBD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9120da2bfc_2_108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0" name="Google Shape;30;g39120da2bfc_2_108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1" name="Google Shape;31;g39120da2bfc_2_108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263525" y="164353"/>
            <a:ext cx="8619004" cy="7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263526" y="1200150"/>
            <a:ext cx="8619003" cy="32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rgbClr val="707070"/>
                </a:solidFill>
              </a:defRPr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–"/>
              <a:defRPr>
                <a:solidFill>
                  <a:srgbClr val="707070"/>
                </a:solidFill>
              </a:defRPr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solidFill>
                  <a:srgbClr val="707070"/>
                </a:solidFill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solidFill>
                  <a:srgbClr val="707070"/>
                </a:solidFill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solidFill>
                  <a:srgbClr val="70707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263524" y="4767263"/>
            <a:ext cx="4465357" cy="37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763000" y="4767263"/>
            <a:ext cx="381000" cy="37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/>
        </p:nvSpPr>
        <p:spPr>
          <a:xfrm>
            <a:off x="263525" y="164353"/>
            <a:ext cx="8619004" cy="7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5"/>
          <p:cNvSpPr txBox="1"/>
          <p:nvPr>
            <p:ph idx="1" type="subTitle"/>
          </p:nvPr>
        </p:nvSpPr>
        <p:spPr>
          <a:xfrm>
            <a:off x="263525" y="1187450"/>
            <a:ext cx="8619004" cy="304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707070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94BBDF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94BBDF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BBDF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BBDF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None/>
              <a:defRPr>
                <a:solidFill>
                  <a:srgbClr val="94BBDF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None/>
              <a:defRPr>
                <a:solidFill>
                  <a:srgbClr val="94BBDF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None/>
              <a:defRPr>
                <a:solidFill>
                  <a:srgbClr val="94BBDF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4BBDF"/>
              </a:buClr>
              <a:buSzPts val="2000"/>
              <a:buNone/>
              <a:defRPr>
                <a:solidFill>
                  <a:srgbClr val="94BBDF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263524" y="4767263"/>
            <a:ext cx="4465357" cy="37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763000" y="4767263"/>
            <a:ext cx="381000" cy="37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263525" y="164353"/>
            <a:ext cx="8619004" cy="7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263524" y="1187450"/>
            <a:ext cx="4153648" cy="32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2" type="body"/>
          </p:nvPr>
        </p:nvSpPr>
        <p:spPr>
          <a:xfrm>
            <a:off x="4728881" y="1187450"/>
            <a:ext cx="4153648" cy="32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1" type="ftr"/>
          </p:nvPr>
        </p:nvSpPr>
        <p:spPr>
          <a:xfrm>
            <a:off x="263524" y="4767263"/>
            <a:ext cx="4465357" cy="37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8763000" y="4767263"/>
            <a:ext cx="381000" cy="37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263525" y="164353"/>
            <a:ext cx="8619004" cy="7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263524" y="4767263"/>
            <a:ext cx="4465357" cy="37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8763000" y="4767263"/>
            <a:ext cx="381000" cy="37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C logo in white on blue background. An icon of the Old Well with a vertical line and the words &quot;The University of North Carolina at Chapel Hill.&quot;" id="64" name="Google Shape;6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06588" y="2251687"/>
            <a:ext cx="2330824" cy="64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C logo in white on blue background. An icon of the Old Well with a vertical line and the words &quot;The University of North Carolina at Chapel Hill.&quot;" id="66" name="Google Shape;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6450" y="2251687"/>
            <a:ext cx="2330824" cy="640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9"/>
          <p:cNvSpPr txBox="1"/>
          <p:nvPr>
            <p:ph type="title"/>
          </p:nvPr>
        </p:nvSpPr>
        <p:spPr>
          <a:xfrm>
            <a:off x="4019176" y="2126316"/>
            <a:ext cx="4303059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8" name="Google Shape;68;p29"/>
          <p:cNvSpPr txBox="1"/>
          <p:nvPr/>
        </p:nvSpPr>
        <p:spPr>
          <a:xfrm>
            <a:off x="841029" y="566830"/>
            <a:ext cx="7823684" cy="769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0" i="0" sz="4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-1"/>
            <a:ext cx="9144000" cy="35705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0" y="3497943"/>
            <a:ext cx="9144000" cy="37737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8"/>
          <p:cNvSpPr txBox="1"/>
          <p:nvPr>
            <p:ph type="title"/>
          </p:nvPr>
        </p:nvSpPr>
        <p:spPr>
          <a:xfrm>
            <a:off x="271463" y="127242"/>
            <a:ext cx="8229600" cy="3066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71462" y="3485243"/>
            <a:ext cx="4364037" cy="377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UNC logo in blue. An icon of the Old Well with a vertical line and the words &quot;The University of North Carolina at Chapel Hill.&quot;" id="14" name="Google Shape;14;p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1084" y="4214577"/>
            <a:ext cx="2163474" cy="59416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263525" y="1304553"/>
            <a:ext cx="86264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mbria"/>
              <a:buNone/>
              <a:defRPr b="0" i="1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263525" y="164353"/>
            <a:ext cx="8619004" cy="769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cxnSp>
        <p:nvCxnSpPr>
          <p:cNvPr id="34" name="Google Shape;34;p14"/>
          <p:cNvCxnSpPr/>
          <p:nvPr/>
        </p:nvCxnSpPr>
        <p:spPr>
          <a:xfrm>
            <a:off x="367548" y="1016000"/>
            <a:ext cx="8395452" cy="0"/>
          </a:xfrm>
          <a:prstGeom prst="straightConnector1">
            <a:avLst/>
          </a:prstGeom>
          <a:noFill/>
          <a:ln cap="flat" cmpd="sng" w="12700">
            <a:solidFill>
              <a:srgbClr val="C8C8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263526" y="1200150"/>
            <a:ext cx="8619003" cy="32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0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–"/>
              <a:defRPr b="0" i="0" sz="2200" u="none" cap="none" strike="noStrike">
                <a:solidFill>
                  <a:srgbClr val="70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0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rgbClr val="70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70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4"/>
          <p:cNvSpPr/>
          <p:nvPr/>
        </p:nvSpPr>
        <p:spPr>
          <a:xfrm>
            <a:off x="0" y="4767263"/>
            <a:ext cx="9144000" cy="37623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4"/>
          <p:cNvSpPr/>
          <p:nvPr/>
        </p:nvSpPr>
        <p:spPr>
          <a:xfrm>
            <a:off x="8763000" y="4767263"/>
            <a:ext cx="381000" cy="3762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263524" y="4767263"/>
            <a:ext cx="4465357" cy="376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63000" y="4767263"/>
            <a:ext cx="381000" cy="37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0"/>
          <p:cNvSpPr/>
          <p:nvPr/>
        </p:nvSpPr>
        <p:spPr>
          <a:xfrm>
            <a:off x="0" y="1903132"/>
            <a:ext cx="9144000" cy="133723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title"/>
          </p:nvPr>
        </p:nvSpPr>
        <p:spPr>
          <a:xfrm>
            <a:off x="-635" y="127000"/>
            <a:ext cx="9145270" cy="3067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/>
              <a:t>Longitudinal Modeling of Cognitive Decline in Older Adults Using GLM, GEE, and GLMM: </a:t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sz="3200"/>
              <a:t>An Analysis of the OASIS-2 Cohort</a:t>
            </a:r>
            <a:br>
              <a:rPr lang="en-US" sz="3200"/>
            </a:br>
            <a:br>
              <a:rPr lang="en-US" sz="3200"/>
            </a:br>
            <a:r>
              <a:rPr lang="en-US" sz="2000"/>
              <a:t>BIOS667 Group 6:  Yini Lu, </a:t>
            </a:r>
            <a:r>
              <a:rPr lang="en-US" sz="2000"/>
              <a:t>Wan-Chen Lin</a:t>
            </a:r>
            <a:r>
              <a:rPr lang="en-US" sz="2000"/>
              <a:t>,Rui Peng, Yixin Zhang</a:t>
            </a:r>
            <a:endParaRPr sz="2000"/>
          </a:p>
        </p:txBody>
      </p:sp>
      <p:sp>
        <p:nvSpPr>
          <p:cNvPr id="75" name="Google Shape;75;p1"/>
          <p:cNvSpPr txBox="1"/>
          <p:nvPr>
            <p:ph idx="11" type="ftr"/>
          </p:nvPr>
        </p:nvSpPr>
        <p:spPr>
          <a:xfrm>
            <a:off x="271462" y="3485243"/>
            <a:ext cx="4364037" cy="3773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idx="1" type="subTitle"/>
          </p:nvPr>
        </p:nvSpPr>
        <p:spPr>
          <a:xfrm>
            <a:off x="263525" y="2169924"/>
            <a:ext cx="8619004" cy="141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Introduction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 sz="1800"/>
              <a:t>Speaker: Yini Lu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ac96e05bc_0_39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Background</a:t>
            </a:r>
            <a:endParaRPr sz="3000"/>
          </a:p>
        </p:txBody>
      </p:sp>
      <p:sp>
        <p:nvSpPr>
          <p:cNvPr id="88" name="Google Shape;88;g3aac96e05bc_0_39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Alzheimer’s Disease (AD) and Cognitive Decline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Alzheimer’s disease is the most common cause of dementia and represents a major global public health challenge.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populations age, the burden on healthcare systems and caregivers continues to grow.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Mini-Mental State Examination (MMSE): Assess global cognition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❏"/>
            </a:pP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strongly predictive of subsequent cognitive and functional decline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score below </a:t>
            </a: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commonly interpreted as poor cognition and signals risk for functional decline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4327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may shape cognitive reserve and influence both baseline cognition and how cognition changes over time.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g3aac96e05bc_0_39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120da2bfc_7_9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Research Questions</a:t>
            </a:r>
            <a:endParaRPr sz="3000"/>
          </a:p>
        </p:txBody>
      </p:sp>
      <p:sp>
        <p:nvSpPr>
          <p:cNvPr id="96" name="Google Shape;96;g39120da2bfc_7_9"/>
          <p:cNvSpPr txBox="1"/>
          <p:nvPr>
            <p:ph idx="1" type="body"/>
          </p:nvPr>
        </p:nvSpPr>
        <p:spPr>
          <a:xfrm>
            <a:off x="263525" y="1200150"/>
            <a:ext cx="8619000" cy="29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SzPts val="1800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are 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levels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associated with the probability of 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cognition (Binary Outcome)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how does this probability change over time?</a:t>
            </a:r>
            <a:b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levels 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 with the 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MMSE scores (Continuous Outcome)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Dataset: </a:t>
            </a:r>
            <a:r>
              <a:rPr b="1" lang="en-US" sz="18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OASIS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longitudinal dataset, which includes repeated MMSE measurements across Nondemented (Control), Demented (AD), and Converted (MCI) participants. 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9120da2bfc_7_9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ac96e05bc_0_7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Data Description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 sz="1800"/>
              <a:t>Speaker: Yini Lu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c96e05bc_0_32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Take a glance at our dataset</a:t>
            </a:r>
            <a:endParaRPr sz="3000"/>
          </a:p>
        </p:txBody>
      </p:sp>
      <p:sp>
        <p:nvSpPr>
          <p:cNvPr id="110" name="Google Shape;110;g3aac96e05bc_0_32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access: Kaggle, </a:t>
            </a:r>
            <a:r>
              <a:rPr b="1"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OASIS-2 longitudinal cohort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study designed to track brain aging and Alzheimer’s disease progression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Longitudinal MRI and cognitive assessment study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participant completed 1–4 visits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Collected at each visit: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Demographics (Age, Sex, Education, etc.)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MMSE cognitive scores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aac96e05bc_0_32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120da2bfc_7_26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Descriptive Statistics</a:t>
            </a:r>
            <a:endParaRPr sz="3000"/>
          </a:p>
        </p:txBody>
      </p:sp>
      <p:sp>
        <p:nvSpPr>
          <p:cNvPr id="118" name="Google Shape;118;g39120da2bfc_7_26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❏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Used in This Study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 baseline MMSE, and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follow-up visit for longitudinal analysis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Char char="❏"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Cohort Overview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142 adults, ages 60–96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level distribution: 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46 Low-Education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Medium-Education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 High-Education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9120da2bfc_7_2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120da2bfc_7_43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120da2bfc_7_43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120da2bfc_7_43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8" name="Google Shape;128;g39120da2bfc_7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25" y="1083425"/>
            <a:ext cx="8618999" cy="297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c96e05bc_0_12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Methods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bbd4ad094_0_0"/>
          <p:cNvSpPr txBox="1"/>
          <p:nvPr>
            <p:ph type="ctrTitle"/>
          </p:nvPr>
        </p:nvSpPr>
        <p:spPr>
          <a:xfrm>
            <a:off x="263525" y="1718235"/>
            <a:ext cx="8619000" cy="45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abbd4ad094_0_0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/>
              <a:t>GLM</a:t>
            </a:r>
            <a:endParaRPr/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/>
              <a:t>Speaker: Rui Peng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bbd4ad094_0_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g3abbd4ad094_0_6"/>
          <p:cNvSpPr txBox="1"/>
          <p:nvPr/>
        </p:nvSpPr>
        <p:spPr>
          <a:xfrm>
            <a:off x="250825" y="5233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endParaRPr sz="1100"/>
          </a:p>
        </p:txBody>
      </p:sp>
      <p:pic>
        <p:nvPicPr>
          <p:cNvPr id="149" name="Google Shape;149;g3abbd4ad094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75" y="1144350"/>
            <a:ext cx="5756775" cy="336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abbd4ad094_0_6"/>
          <p:cNvSpPr txBox="1"/>
          <p:nvPr/>
        </p:nvSpPr>
        <p:spPr>
          <a:xfrm>
            <a:off x="5909150" y="1195175"/>
            <a:ext cx="31182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Diagnostics</a:t>
            </a:r>
            <a:endParaRPr b="1" sz="13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Discrimination:</a:t>
            </a:r>
            <a:r>
              <a:rPr lang="en-US" sz="1100"/>
              <a:t> ROC curve, AUC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Classification:</a:t>
            </a:r>
            <a:r>
              <a:rPr lang="en-US" sz="1100"/>
              <a:t> accuracy, sensitivity, specificity, PPV, F1</a:t>
            </a:r>
            <a:br>
              <a:rPr lang="en-US" sz="1100"/>
            </a:b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Residual diagnostics:</a:t>
            </a:r>
            <a:r>
              <a:rPr lang="en-US" sz="1100"/>
              <a:t> deviance residuals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Influence diagnostics:</a:t>
            </a:r>
            <a:r>
              <a:rPr lang="en-US" sz="1100"/>
              <a:t> Cook’s distance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Goodness:</a:t>
            </a:r>
            <a:r>
              <a:rPr lang="en-US" sz="1100"/>
              <a:t> </a:t>
            </a:r>
            <a:r>
              <a:rPr lang="en-US" sz="1100">
                <a:solidFill>
                  <a:schemeClr val="dk2"/>
                </a:solidFill>
              </a:rPr>
              <a:t>Hosmer–Lemeshow goodness-of-fit test</a:t>
            </a:r>
            <a:endParaRPr sz="1100">
              <a:solidFill>
                <a:srgbClr val="70707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bd4ad094_0_2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g3abbd4ad094_0_26"/>
          <p:cNvSpPr txBox="1"/>
          <p:nvPr/>
        </p:nvSpPr>
        <p:spPr>
          <a:xfrm>
            <a:off x="271825" y="187425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 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 baseline age, education, and sex predict change in cognition (ΔMMSE) from first to last visit?</a:t>
            </a:r>
            <a:endParaRPr sz="1100"/>
          </a:p>
        </p:txBody>
      </p:sp>
      <p:sp>
        <p:nvSpPr>
          <p:cNvPr id="158" name="Google Shape;158;g3abbd4ad094_0_26"/>
          <p:cNvSpPr txBox="1"/>
          <p:nvPr/>
        </p:nvSpPr>
        <p:spPr>
          <a:xfrm>
            <a:off x="5909150" y="1195175"/>
            <a:ext cx="3118200" cy="3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/>
              <a:t>Diagnostics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Linearity:</a:t>
            </a:r>
            <a:r>
              <a:rPr lang="en-US" sz="1100"/>
              <a:t> residuals vs fitted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Normality:</a:t>
            </a:r>
            <a:r>
              <a:rPr lang="en-US" sz="1100"/>
              <a:t> Q–Q plot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Homoscedasticity:</a:t>
            </a:r>
            <a:r>
              <a:rPr lang="en-US" sz="1100"/>
              <a:t> scale-location check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Influence:</a:t>
            </a:r>
            <a:r>
              <a:rPr lang="en-US" sz="1100"/>
              <a:t> Cook’s distance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Leverage:</a:t>
            </a:r>
            <a:r>
              <a:rPr lang="en-US" sz="1100"/>
              <a:t> residuals vs leverage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Multicollinearity:</a:t>
            </a:r>
            <a:r>
              <a:rPr lang="en-US" sz="1100"/>
              <a:t> VIF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  <p:pic>
        <p:nvPicPr>
          <p:cNvPr id="159" name="Google Shape;159;g3abbd4ad094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25" y="1003100"/>
            <a:ext cx="5604349" cy="3693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20da2bfc_2_1073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Results of Q1 - GLM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bd4ad094_0_42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g3abbd4ad094_0_42"/>
          <p:cNvSpPr txBox="1"/>
          <p:nvPr/>
        </p:nvSpPr>
        <p:spPr>
          <a:xfrm>
            <a:off x="264825" y="5163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b="1" lang="en-US" sz="24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table of </a:t>
            </a:r>
            <a:r>
              <a:rPr b="1" lang="en-US" sz="2300">
                <a:latin typeface="Times New Roman"/>
                <a:ea typeface="Times New Roman"/>
                <a:cs typeface="Times New Roman"/>
                <a:sym typeface="Times New Roman"/>
              </a:rPr>
              <a:t>Logistic Model </a:t>
            </a:r>
            <a:endParaRPr b="1" sz="24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g3abbd4ad094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50" y="1480300"/>
            <a:ext cx="55245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abbd4ad094_0_42"/>
          <p:cNvSpPr txBox="1"/>
          <p:nvPr/>
        </p:nvSpPr>
        <p:spPr>
          <a:xfrm>
            <a:off x="5808300" y="1430500"/>
            <a:ext cx="28323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Education level are the key predictors of poor cognition at the final visit. 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Coefficient:For every additional year of education at baseline, the odds of having poor cognition at the final visit decrease by about 26%.</a:t>
            </a:r>
            <a:endParaRPr b="1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bbd4ad094_0_7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g3abbd4ad094_0_70"/>
          <p:cNvSpPr txBox="1"/>
          <p:nvPr/>
        </p:nvSpPr>
        <p:spPr>
          <a:xfrm>
            <a:off x="271825" y="187425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Classify table &amp; Model Performance Metrics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82" name="Google Shape;182;g3abbd4ad094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00" y="1037825"/>
            <a:ext cx="33147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abbd4ad094_0_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7275" y="2714225"/>
            <a:ext cx="5740301" cy="19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bd4ad094_0_85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g3abbd4ad094_0_85"/>
          <p:cNvSpPr txBox="1"/>
          <p:nvPr/>
        </p:nvSpPr>
        <p:spPr>
          <a:xfrm>
            <a:off x="271825" y="187425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)ROC &amp; AUC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91" name="Google Shape;191;g3abbd4ad094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50" y="1171575"/>
            <a:ext cx="43719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abbd4ad094_0_85"/>
          <p:cNvSpPr txBox="1"/>
          <p:nvPr/>
        </p:nvSpPr>
        <p:spPr>
          <a:xfrm>
            <a:off x="4917450" y="1467475"/>
            <a:ext cx="41013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The ROC curve rises steeply and stays well above the </a:t>
            </a:r>
            <a:r>
              <a:rPr b="1" lang="en-US" sz="1100"/>
              <a:t>45° chance line</a:t>
            </a:r>
            <a:r>
              <a:rPr lang="en-US" sz="1100"/>
              <a:t>.</a:t>
            </a:r>
            <a:br>
              <a:rPr lang="en-US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b="1" lang="en-US" sz="1100"/>
              <a:t>AUC = 0.726</a:t>
            </a:r>
            <a:r>
              <a:rPr lang="en-US" sz="1100"/>
              <a:t>, indicating </a:t>
            </a:r>
            <a:r>
              <a:rPr b="1" lang="en-US" sz="1100"/>
              <a:t>good discriminative performance</a:t>
            </a:r>
            <a:r>
              <a:rPr lang="en-US" sz="1100"/>
              <a:t>.</a:t>
            </a:r>
            <a:br>
              <a:rPr lang="en-US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The model reliably separates:</a:t>
            </a:r>
            <a:br>
              <a:rPr lang="en-US" sz="1100"/>
            </a:b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/>
              <a:t>Impaired</a:t>
            </a:r>
            <a:r>
              <a:rPr lang="en-US" sz="1100"/>
              <a:t> (poor cognition) vs </a:t>
            </a:r>
            <a:r>
              <a:rPr b="1" lang="en-US" sz="1100"/>
              <a:t>Non-impaired</a:t>
            </a:r>
            <a:r>
              <a:rPr lang="en-US" sz="1100"/>
              <a:t> individuals.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bd4ad094_0_12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g3abbd4ad094_0_120"/>
          <p:cNvSpPr txBox="1"/>
          <p:nvPr/>
        </p:nvSpPr>
        <p:spPr>
          <a:xfrm>
            <a:off x="364350" y="179025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)Residuals plots &amp; influence plots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00" name="Google Shape;200;g3abbd4ad094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50" y="1463213"/>
            <a:ext cx="398145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abbd4ad094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4150" y="1250400"/>
            <a:ext cx="4437275" cy="28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bbd4ad094_0_109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g3abbd4ad094_0_109"/>
          <p:cNvSpPr txBox="1"/>
          <p:nvPr/>
        </p:nvSpPr>
        <p:spPr>
          <a:xfrm>
            <a:off x="364350" y="179025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Goodness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09" name="Google Shape;209;g3abbd4ad094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225" y="1046150"/>
            <a:ext cx="46482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abbd4ad094_0_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2225" y="2023775"/>
            <a:ext cx="41148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bbd4ad094_0_135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Results of Q2 - GLM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bd4ad094_0_14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g3abbd4ad094_0_140"/>
          <p:cNvSpPr txBox="1"/>
          <p:nvPr/>
        </p:nvSpPr>
        <p:spPr>
          <a:xfrm>
            <a:off x="330725" y="204250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)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 table of </a:t>
            </a:r>
            <a:r>
              <a:rPr b="1" lang="en-US" sz="2300"/>
              <a:t>Linear Model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224" name="Google Shape;224;g3abbd4ad094_0_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5550"/>
            <a:ext cx="5810250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bbd4ad094_0_15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g3abbd4ad094_0_150"/>
          <p:cNvSpPr txBox="1"/>
          <p:nvPr/>
        </p:nvSpPr>
        <p:spPr>
          <a:xfrm>
            <a:off x="297100" y="204250"/>
            <a:ext cx="870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2)Check multicollinearity (VIF)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32" name="Google Shape;232;g3abbd4ad094_0_150"/>
          <p:cNvSpPr txBox="1"/>
          <p:nvPr/>
        </p:nvSpPr>
        <p:spPr>
          <a:xfrm>
            <a:off x="698425" y="2397000"/>
            <a:ext cx="5664600" cy="16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/>
              <a:t>Variance inflation factors (VIFs) for all predictors were approximately 1 indicating no evidence of multicollinearity among baseline age, education, and sex. Therefore, all predictors can be interpreted without concern for inflated variances or instability in the coefficient estimates</a:t>
            </a:r>
            <a:endParaRPr sz="2400">
              <a:solidFill>
                <a:srgbClr val="707070"/>
              </a:solidFill>
            </a:endParaRPr>
          </a:p>
        </p:txBody>
      </p:sp>
      <p:pic>
        <p:nvPicPr>
          <p:cNvPr id="233" name="Google Shape;233;g3abbd4ad094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975" y="1448525"/>
            <a:ext cx="44481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bbd4ad094_0_159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c52f647e1_1_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g3ac52f647e1_1_0"/>
          <p:cNvSpPr txBox="1"/>
          <p:nvPr/>
        </p:nvSpPr>
        <p:spPr>
          <a:xfrm>
            <a:off x="690025" y="388350"/>
            <a:ext cx="7765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07070"/>
                </a:solidFill>
              </a:rPr>
              <a:t>Summary GLM (Q1&amp; Q2)</a:t>
            </a:r>
            <a:endParaRPr sz="2400">
              <a:solidFill>
                <a:srgbClr val="707070"/>
              </a:solidFill>
            </a:endParaRPr>
          </a:p>
        </p:txBody>
      </p:sp>
      <p:sp>
        <p:nvSpPr>
          <p:cNvPr id="247" name="Google Shape;247;g3ac52f647e1_1_0"/>
          <p:cNvSpPr txBox="1"/>
          <p:nvPr/>
        </p:nvSpPr>
        <p:spPr>
          <a:xfrm>
            <a:off x="295025" y="1186775"/>
            <a:ext cx="33198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/>
              <a:t>RQ1 — Logistic GLM: Predicting Poor Cognition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Key Results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Only </a:t>
            </a:r>
            <a:r>
              <a:rPr b="1" lang="en-US" sz="1100"/>
              <a:t>education</a:t>
            </a:r>
            <a:r>
              <a:rPr lang="en-US" sz="1100"/>
              <a:t> significantly predicted poor cognition</a:t>
            </a:r>
            <a:br>
              <a:rPr lang="en-US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Model performance</a:t>
            </a:r>
            <a:br>
              <a:rPr b="1" lang="en-US" sz="1100"/>
            </a:br>
            <a:r>
              <a:rPr lang="en-US" sz="1100"/>
              <a:t>Accuracy: </a:t>
            </a:r>
            <a:r>
              <a:rPr b="1" lang="en-US" sz="1100"/>
              <a:t>83.9%</a:t>
            </a:r>
            <a:br>
              <a:rPr b="1" lang="en-US" sz="1100"/>
            </a:br>
            <a:r>
              <a:rPr lang="en-US" sz="1100"/>
              <a:t>Sensitivity: </a:t>
            </a:r>
            <a:r>
              <a:rPr b="1" lang="en-US" sz="1100"/>
              <a:t>80%</a:t>
            </a:r>
            <a:br>
              <a:rPr b="1" lang="en-US" sz="1100"/>
            </a:br>
            <a:r>
              <a:rPr lang="en-US" sz="1100"/>
              <a:t>Specificity: </a:t>
            </a:r>
            <a:r>
              <a:rPr b="1" lang="en-US" sz="1100"/>
              <a:t>84%</a:t>
            </a:r>
            <a:br>
              <a:rPr b="1" lang="en-US" sz="1100"/>
            </a:br>
            <a:r>
              <a:rPr lang="en-US" sz="1100"/>
              <a:t>Precision: </a:t>
            </a:r>
            <a:r>
              <a:rPr b="1" lang="en-US" sz="1100"/>
              <a:t>14.8%</a:t>
            </a:r>
            <a:r>
              <a:rPr lang="en-US" sz="1100"/>
              <a:t> (low due to rare events)</a:t>
            </a:r>
            <a:br>
              <a:rPr lang="en-US" sz="1100"/>
            </a:br>
            <a:r>
              <a:rPr lang="en-US" sz="1100"/>
              <a:t>AUC: </a:t>
            </a:r>
            <a:r>
              <a:rPr b="1" lang="en-US" sz="1100"/>
              <a:t>0.726</a:t>
            </a:r>
            <a:r>
              <a:rPr lang="en-US" sz="1100"/>
              <a:t> (moderate discrimination)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Good calibration; no major diagnostics issues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707070"/>
              </a:solidFill>
            </a:endParaRPr>
          </a:p>
        </p:txBody>
      </p:sp>
      <p:sp>
        <p:nvSpPr>
          <p:cNvPr id="248" name="Google Shape;248;g3ac52f647e1_1_0"/>
          <p:cNvSpPr txBox="1"/>
          <p:nvPr/>
        </p:nvSpPr>
        <p:spPr>
          <a:xfrm>
            <a:off x="4800025" y="1234275"/>
            <a:ext cx="3655800" cy="3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/>
              <a:t>RQ2 — Linear GLM: Predicting ΔMMSE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/>
              <a:t>Key Results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Age, education, and sex were </a:t>
            </a:r>
            <a:r>
              <a:rPr b="1" lang="en-US" sz="1100"/>
              <a:t>not significant predictors</a:t>
            </a:r>
            <a:br>
              <a:rPr b="1" lang="en-US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VIFs ≈ 1 → no multicollinearity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Diagnostics revealed model limitations:</a:t>
            </a:r>
            <a:br>
              <a:rPr lang="en-US" sz="1100"/>
            </a:br>
            <a:r>
              <a:rPr lang="en-US" sz="1100"/>
              <a:t>Non-normal residuals,Heteroscedasticity</a:t>
            </a:r>
            <a:br>
              <a:rPr lang="en-US" sz="1100"/>
            </a:br>
            <a:r>
              <a:rPr lang="en-US" sz="1100"/>
              <a:t>Influential outliers</a:t>
            </a:r>
            <a:br>
              <a:rPr lang="en-US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ΔMMSE has </a:t>
            </a:r>
            <a:r>
              <a:rPr b="1" lang="en-US" sz="1100"/>
              <a:t>very little variability</a:t>
            </a:r>
            <a:br>
              <a:rPr b="1" lang="en-US" sz="1100"/>
            </a:br>
            <a:endParaRPr sz="2400">
              <a:solidFill>
                <a:srgbClr val="70707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120da2bfc_0_0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/>
              <a:t>GEE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-US" sz="1800"/>
              <a:t>Speaker: Yixin Zhang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120da2bfc_2_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g39120da2bfc_2_0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Specification</a:t>
            </a:r>
            <a:endParaRPr sz="1100"/>
          </a:p>
        </p:txBody>
      </p:sp>
      <p:sp>
        <p:nvSpPr>
          <p:cNvPr id="262" name="Google Shape;262;g39120da2bfc_2_0"/>
          <p:cNvSpPr txBox="1"/>
          <p:nvPr/>
        </p:nvSpPr>
        <p:spPr>
          <a:xfrm>
            <a:off x="221462" y="1414000"/>
            <a:ext cx="4897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9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Logistic GEE (RQ1)</a:t>
            </a:r>
            <a:endParaRPr sz="1080"/>
          </a:p>
        </p:txBody>
      </p:sp>
      <p:sp>
        <p:nvSpPr>
          <p:cNvPr id="263" name="Google Shape;263;g39120da2bfc_2_0"/>
          <p:cNvSpPr txBox="1"/>
          <p:nvPr/>
        </p:nvSpPr>
        <p:spPr>
          <a:xfrm>
            <a:off x="221462" y="2447310"/>
            <a:ext cx="4897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9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Gaussian GEE (RQ2)</a:t>
            </a:r>
            <a:endParaRPr sz="1080"/>
          </a:p>
        </p:txBody>
      </p:sp>
      <p:pic>
        <p:nvPicPr>
          <p:cNvPr id="264" name="Google Shape;264;g39120da2bfc_2_0" title="Screenshot 2025-12-02 at 17.33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41300"/>
            <a:ext cx="9143998" cy="483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9120da2bfc_2_0" title="Screenshot 2025-12-02 at 17.38.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450" y="2883235"/>
            <a:ext cx="8839202" cy="499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120da2bfc_2_912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g39120da2bfc_2_912"/>
          <p:cNvSpPr txBox="1"/>
          <p:nvPr/>
        </p:nvSpPr>
        <p:spPr>
          <a:xfrm>
            <a:off x="36977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Choosing Correlation Structure</a:t>
            </a:r>
            <a:endParaRPr sz="1100"/>
          </a:p>
        </p:txBody>
      </p:sp>
      <p:sp>
        <p:nvSpPr>
          <p:cNvPr id="273" name="Google Shape;273;g39120da2bfc_2_912"/>
          <p:cNvSpPr txBox="1"/>
          <p:nvPr/>
        </p:nvSpPr>
        <p:spPr>
          <a:xfrm>
            <a:off x="369775" y="1200150"/>
            <a:ext cx="40320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Selection Process</a:t>
            </a:r>
            <a:endParaRPr sz="1085"/>
          </a:p>
        </p:txBody>
      </p:sp>
      <p:sp>
        <p:nvSpPr>
          <p:cNvPr id="274" name="Google Shape;274;g39120da2bfc_2_912"/>
          <p:cNvSpPr txBox="1"/>
          <p:nvPr/>
        </p:nvSpPr>
        <p:spPr>
          <a:xfrm>
            <a:off x="369775" y="1687507"/>
            <a:ext cx="38397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compared </a:t>
            </a:r>
            <a:r>
              <a:rPr b="0" i="1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Independence</a:t>
            </a: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1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Exchangeable</a:t>
            </a: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0" i="1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AR-1</a:t>
            </a: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working correlation structures.</a:t>
            </a:r>
            <a:endParaRPr sz="1085"/>
          </a:p>
        </p:txBody>
      </p:sp>
      <p:sp>
        <p:nvSpPr>
          <p:cNvPr id="275" name="Google Shape;275;g39120da2bfc_2_912"/>
          <p:cNvSpPr txBox="1"/>
          <p:nvPr/>
        </p:nvSpPr>
        <p:spPr>
          <a:xfrm>
            <a:off x="369775" y="2440695"/>
            <a:ext cx="40320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4F46E5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Decision: Exchangeable</a:t>
            </a:r>
            <a:endParaRPr sz="1085"/>
          </a:p>
        </p:txBody>
      </p:sp>
      <p:sp>
        <p:nvSpPr>
          <p:cNvPr id="276" name="Google Shape;276;g39120da2bfc_2_912"/>
          <p:cNvSpPr txBox="1"/>
          <p:nvPr/>
        </p:nvSpPr>
        <p:spPr>
          <a:xfrm>
            <a:off x="591300" y="2898515"/>
            <a:ext cx="36183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RQ1: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Lowest QIC value(294).</a:t>
            </a:r>
            <a:endParaRPr sz="1085"/>
          </a:p>
        </p:txBody>
      </p:sp>
      <p:sp>
        <p:nvSpPr>
          <p:cNvPr id="277" name="Google Shape;277;g39120da2bfc_2_912"/>
          <p:cNvSpPr txBox="1"/>
          <p:nvPr/>
        </p:nvSpPr>
        <p:spPr>
          <a:xfrm>
            <a:off x="591300" y="3245572"/>
            <a:ext cx="36183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RQ2: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Supported by the empirical correlogram despite QIC scores.</a:t>
            </a:r>
            <a:endParaRPr sz="1085"/>
          </a:p>
        </p:txBody>
      </p:sp>
      <p:sp>
        <p:nvSpPr>
          <p:cNvPr id="278" name="Google Shape;278;g39120da2bfc_2_912"/>
          <p:cNvSpPr txBox="1"/>
          <p:nvPr/>
        </p:nvSpPr>
        <p:spPr>
          <a:xfrm>
            <a:off x="591300" y="3828924"/>
            <a:ext cx="36183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Rationale:</a:t>
            </a:r>
            <a:r>
              <a:rPr b="0" i="0" lang="en-US" sz="1162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empirical correlation (right) remained high and stable across visit lags, justifying the exchangeable assumption.</a:t>
            </a:r>
            <a:endParaRPr sz="1085"/>
          </a:p>
        </p:txBody>
      </p:sp>
      <p:pic>
        <p:nvPicPr>
          <p:cNvPr descr="image.png" id="279" name="Google Shape;279;g39120da2bfc_2_9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775" y="2928052"/>
            <a:ext cx="118147" cy="140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g39120da2bfc_2_9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775" y="3275109"/>
            <a:ext cx="118147" cy="140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g39120da2bfc_2_9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775" y="3858461"/>
            <a:ext cx="118147" cy="14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9120da2bfc_2_912" title="Screenshot 2025-12-02 at 17.39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775" y="1506700"/>
            <a:ext cx="4437426" cy="2749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bbd4ad094_0_37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Results - GEE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120da2bfc_2_935"/>
          <p:cNvSpPr txBox="1"/>
          <p:nvPr/>
        </p:nvSpPr>
        <p:spPr>
          <a:xfrm>
            <a:off x="442800" y="403900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 Result - Binary Outcome</a:t>
            </a:r>
            <a:endParaRPr sz="1100"/>
          </a:p>
        </p:txBody>
      </p:sp>
      <p:pic>
        <p:nvPicPr>
          <p:cNvPr id="295" name="Google Shape;295;g39120da2bfc_2_935" title="Screenshot 2025-12-02 at 17.38.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325" y="1200150"/>
            <a:ext cx="7389750" cy="35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ce6a18cf4_0_22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g3ace6a18cf4_0_22"/>
          <p:cNvSpPr txBox="1"/>
          <p:nvPr/>
        </p:nvSpPr>
        <p:spPr>
          <a:xfrm>
            <a:off x="442800" y="403900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 Result - 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Predicted Probability</a:t>
            </a:r>
            <a:endParaRPr sz="1100"/>
          </a:p>
        </p:txBody>
      </p:sp>
      <p:sp>
        <p:nvSpPr>
          <p:cNvPr id="303" name="Google Shape;303;g3ace6a18cf4_0_22"/>
          <p:cNvSpPr txBox="1"/>
          <p:nvPr/>
        </p:nvSpPr>
        <p:spPr>
          <a:xfrm>
            <a:off x="158425" y="1479075"/>
            <a:ext cx="41421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plot displays the population-average predicted probability of "poor cognition" across visits.</a:t>
            </a:r>
            <a:endParaRPr sz="1170"/>
          </a:p>
        </p:txBody>
      </p:sp>
      <p:sp>
        <p:nvSpPr>
          <p:cNvPr id="304" name="Google Shape;304;g3ace6a18cf4_0_22"/>
          <p:cNvSpPr txBox="1"/>
          <p:nvPr/>
        </p:nvSpPr>
        <p:spPr>
          <a:xfrm>
            <a:off x="397398" y="2419037"/>
            <a:ext cx="39033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Education:</a:t>
            </a:r>
            <a:r>
              <a:rPr b="0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Consistently lowest risk.</a:t>
            </a:r>
            <a:endParaRPr sz="1170"/>
          </a:p>
        </p:txBody>
      </p:sp>
      <p:sp>
        <p:nvSpPr>
          <p:cNvPr id="305" name="Google Shape;305;g3ace6a18cf4_0_22"/>
          <p:cNvSpPr txBox="1"/>
          <p:nvPr/>
        </p:nvSpPr>
        <p:spPr>
          <a:xfrm>
            <a:off x="397398" y="2793429"/>
            <a:ext cx="39033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 Education:</a:t>
            </a:r>
            <a:r>
              <a:rPr b="0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Consistently highest risk.</a:t>
            </a:r>
            <a:endParaRPr sz="1170"/>
          </a:p>
        </p:txBody>
      </p:sp>
      <p:sp>
        <p:nvSpPr>
          <p:cNvPr id="306" name="Google Shape;306;g3ace6a18cf4_0_22"/>
          <p:cNvSpPr txBox="1"/>
          <p:nvPr/>
        </p:nvSpPr>
        <p:spPr>
          <a:xfrm>
            <a:off x="397398" y="3167821"/>
            <a:ext cx="3903300" cy="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Interpretation:</a:t>
            </a:r>
            <a:r>
              <a:rPr b="0" i="0" lang="en-US" sz="1254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Improved education provides a stable buffer against falling below clinical impairment thresholds (MMSE &lt; 24).</a:t>
            </a:r>
            <a:endParaRPr sz="1170"/>
          </a:p>
        </p:txBody>
      </p:sp>
      <p:pic>
        <p:nvPicPr>
          <p:cNvPr descr="image.png" id="307" name="Google Shape;307;g3ace6a18cf4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25" y="2450900"/>
            <a:ext cx="12745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g3ace6a18cf4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25" y="2825292"/>
            <a:ext cx="12745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g3ace6a18cf4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25" y="3199684"/>
            <a:ext cx="127452" cy="15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ace6a18cf4_0_22" title="Screenshot 2025-12-02 at 17.37.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475" y="1347764"/>
            <a:ext cx="4859977" cy="308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ce6a18cf4_0_38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g3ace6a18cf4_0_38"/>
          <p:cNvSpPr txBox="1"/>
          <p:nvPr/>
        </p:nvSpPr>
        <p:spPr>
          <a:xfrm>
            <a:off x="442800" y="403900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 Result - 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Continuous Scores</a:t>
            </a:r>
            <a:endParaRPr sz="1100"/>
          </a:p>
        </p:txBody>
      </p:sp>
      <p:pic>
        <p:nvPicPr>
          <p:cNvPr id="318" name="Google Shape;318;g3ace6a18cf4_0_38" title="Screenshot 2025-12-02 at 17.40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00" y="1120375"/>
            <a:ext cx="5609937" cy="364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ce6a18cf4_0_64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g3ace6a18cf4_0_64"/>
          <p:cNvSpPr txBox="1"/>
          <p:nvPr/>
        </p:nvSpPr>
        <p:spPr>
          <a:xfrm>
            <a:off x="442800" y="403900"/>
            <a:ext cx="8701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 Result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26" name="Google Shape;326;g3ace6a18cf4_0_64"/>
          <p:cNvSpPr txBox="1"/>
          <p:nvPr/>
        </p:nvSpPr>
        <p:spPr>
          <a:xfrm>
            <a:off x="198000" y="1512100"/>
            <a:ext cx="4428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Gaussian GEE model reveals distinct longitudinal profiles:</a:t>
            </a:r>
            <a:endParaRPr sz="1251"/>
          </a:p>
        </p:txBody>
      </p:sp>
      <p:sp>
        <p:nvSpPr>
          <p:cNvPr id="327" name="Google Shape;327;g3ace6a18cf4_0_64"/>
          <p:cNvSpPr txBox="1"/>
          <p:nvPr/>
        </p:nvSpPr>
        <p:spPr>
          <a:xfrm>
            <a:off x="453494" y="2363744"/>
            <a:ext cx="41733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 Education:</a:t>
            </a:r>
            <a:r>
              <a:rPr b="0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Steepest decline over time.</a:t>
            </a:r>
            <a:endParaRPr sz="1251"/>
          </a:p>
        </p:txBody>
      </p:sp>
      <p:sp>
        <p:nvSpPr>
          <p:cNvPr id="328" name="Google Shape;328;g3ace6a18cf4_0_64"/>
          <p:cNvSpPr txBox="1"/>
          <p:nvPr/>
        </p:nvSpPr>
        <p:spPr>
          <a:xfrm>
            <a:off x="453494" y="2764017"/>
            <a:ext cx="41733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Medium Education:</a:t>
            </a:r>
            <a:r>
              <a:rPr b="0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Slower rate of decline, showing resilience.</a:t>
            </a:r>
            <a:endParaRPr sz="1251"/>
          </a:p>
        </p:txBody>
      </p:sp>
      <p:sp>
        <p:nvSpPr>
          <p:cNvPr id="329" name="Google Shape;329;g3ace6a18cf4_0_64"/>
          <p:cNvSpPr txBox="1"/>
          <p:nvPr/>
        </p:nvSpPr>
        <p:spPr>
          <a:xfrm>
            <a:off x="453494" y="3436816"/>
            <a:ext cx="41733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Education:</a:t>
            </a:r>
            <a:r>
              <a:rPr b="0" i="0" lang="en-US" sz="1341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Sustains the highest cognitive status throughout, primarily due to the strong baseline advantage.</a:t>
            </a:r>
            <a:endParaRPr sz="1251"/>
          </a:p>
        </p:txBody>
      </p:sp>
      <p:pic>
        <p:nvPicPr>
          <p:cNvPr descr="image.png" id="330" name="Google Shape;330;g3ace6a18cf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00" y="2397810"/>
            <a:ext cx="136263" cy="161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g3ace6a18cf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00" y="2798083"/>
            <a:ext cx="136263" cy="161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g3ace6a18cf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000" y="3470882"/>
            <a:ext cx="136263" cy="161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ace6a18cf4_0_64" title="Screenshot 2025-12-02 at 17.40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801" y="1367775"/>
            <a:ext cx="4517202" cy="28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ce6a18cf4_0_106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ace6a18cf4_0_10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1" name="Google Shape;341;g3ace6a18cf4_0_106" title="Screenshot 2025-12-02 at 17.42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5838"/>
            <a:ext cx="4401652" cy="2711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ace6a18cf4_0_106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Diagnosis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43" name="Google Shape;343;g3ace6a18cf4_0_106" title="Screenshot 2025-12-02 at 17.43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649" y="1215850"/>
            <a:ext cx="4344889" cy="271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120da2bfc_2_957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g39120da2bfc_2_957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Diagnosis - Robustness Check</a:t>
            </a:r>
            <a:endParaRPr b="1" sz="2400">
              <a:solidFill>
                <a:srgbClr val="0F172A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51" name="Google Shape;351;g39120da2bfc_2_957" title="Screenshot 2025-12-02 at 17.41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225" y="1090550"/>
            <a:ext cx="7179549" cy="367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120da2bfc_2_105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g39120da2bfc_2_1056"/>
          <p:cNvSpPr txBox="1"/>
          <p:nvPr/>
        </p:nvSpPr>
        <p:spPr>
          <a:xfrm>
            <a:off x="428625" y="447858"/>
            <a:ext cx="39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 sz="1100"/>
          </a:p>
        </p:txBody>
      </p:sp>
      <p:sp>
        <p:nvSpPr>
          <p:cNvPr id="359" name="Google Shape;359;g39120da2bfc_2_1056"/>
          <p:cNvSpPr txBox="1"/>
          <p:nvPr/>
        </p:nvSpPr>
        <p:spPr>
          <a:xfrm>
            <a:off x="428625" y="1285472"/>
            <a:ext cx="39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Takeaways:</a:t>
            </a:r>
            <a:endParaRPr sz="1100"/>
          </a:p>
        </p:txBody>
      </p:sp>
      <p:sp>
        <p:nvSpPr>
          <p:cNvPr id="360" name="Google Shape;360;g39120da2bfc_2_1056"/>
          <p:cNvSpPr txBox="1"/>
          <p:nvPr/>
        </p:nvSpPr>
        <p:spPr>
          <a:xfrm>
            <a:off x="428625" y="1750775"/>
            <a:ext cx="3507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both RQ1 and RQ2, </a:t>
            </a:r>
            <a:r>
              <a:rPr b="1" i="0" lang="en-US" sz="11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higher education emerged as a consistent protective factor</a:t>
            </a:r>
            <a:r>
              <a:rPr b="0" i="0" lang="en-US" sz="11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96"/>
          </a:p>
        </p:txBody>
      </p:sp>
      <p:sp>
        <p:nvSpPr>
          <p:cNvPr id="361" name="Google Shape;361;g39120da2bfc_2_1056"/>
          <p:cNvSpPr txBox="1"/>
          <p:nvPr/>
        </p:nvSpPr>
        <p:spPr>
          <a:xfrm>
            <a:off x="652465" y="2496913"/>
            <a:ext cx="3282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Lower odds of poor cognition (Binary).</a:t>
            </a:r>
            <a:endParaRPr sz="1096"/>
          </a:p>
        </p:txBody>
      </p:sp>
      <p:sp>
        <p:nvSpPr>
          <p:cNvPr id="362" name="Google Shape;362;g39120da2bfc_2_1056"/>
          <p:cNvSpPr txBox="1"/>
          <p:nvPr/>
        </p:nvSpPr>
        <p:spPr>
          <a:xfrm>
            <a:off x="652465" y="2847598"/>
            <a:ext cx="32829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Higher overall MMSE performance (Continuous).</a:t>
            </a:r>
            <a:endParaRPr sz="1096"/>
          </a:p>
        </p:txBody>
      </p:sp>
      <p:sp>
        <p:nvSpPr>
          <p:cNvPr id="363" name="Google Shape;363;g39120da2bfc_2_1056"/>
          <p:cNvSpPr txBox="1"/>
          <p:nvPr/>
        </p:nvSpPr>
        <p:spPr>
          <a:xfrm>
            <a:off x="652465" y="3437047"/>
            <a:ext cx="32829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Robust across different correlation structures.</a:t>
            </a:r>
            <a:endParaRPr sz="1096"/>
          </a:p>
        </p:txBody>
      </p:sp>
      <p:pic>
        <p:nvPicPr>
          <p:cNvPr descr="image.png" id="364" name="Google Shape;364;g39120da2bfc_2_10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2526759"/>
            <a:ext cx="119382" cy="141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g39120da2bfc_2_10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2877443"/>
            <a:ext cx="119382" cy="141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g39120da2bfc_2_10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3466892"/>
            <a:ext cx="119382" cy="141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9120da2bfc_2_1056" title="Screenshot 2025-12-02 at 17.40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801" y="1285475"/>
            <a:ext cx="4517202" cy="287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c52f647e1_0_49"/>
          <p:cNvSpPr txBox="1"/>
          <p:nvPr>
            <p:ph type="ctrTitle"/>
          </p:nvPr>
        </p:nvSpPr>
        <p:spPr>
          <a:xfrm>
            <a:off x="263525" y="1718235"/>
            <a:ext cx="8619000" cy="451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c52f647e1_0_49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/>
              <a:t>GLMM</a:t>
            </a:r>
            <a:endParaRPr/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800"/>
              <a:t>Speaker: Wan-Chen Lin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c52f647e1_0_89"/>
          <p:cNvSpPr txBox="1"/>
          <p:nvPr/>
        </p:nvSpPr>
        <p:spPr>
          <a:xfrm>
            <a:off x="442800" y="403900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Specification</a:t>
            </a:r>
            <a:endParaRPr sz="1100"/>
          </a:p>
        </p:txBody>
      </p:sp>
      <p:sp>
        <p:nvSpPr>
          <p:cNvPr id="381" name="Google Shape;381;g3ac52f647e1_0_89"/>
          <p:cNvSpPr txBox="1"/>
          <p:nvPr/>
        </p:nvSpPr>
        <p:spPr>
          <a:xfrm>
            <a:off x="442800" y="1273738"/>
            <a:ext cx="162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</a:rPr>
              <a:t>RQ1: </a:t>
            </a:r>
            <a:endParaRPr>
              <a:solidFill>
                <a:srgbClr val="0F172A"/>
              </a:solidFill>
            </a:endParaRPr>
          </a:p>
        </p:txBody>
      </p:sp>
      <p:pic>
        <p:nvPicPr>
          <p:cNvPr id="382" name="Google Shape;382;g3ac52f647e1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500" y="1253775"/>
            <a:ext cx="6536323" cy="14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ac52f647e1_0_89"/>
          <p:cNvSpPr txBox="1"/>
          <p:nvPr/>
        </p:nvSpPr>
        <p:spPr>
          <a:xfrm>
            <a:off x="1502825" y="3069175"/>
            <a:ext cx="64665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Simplification: </a:t>
            </a:r>
            <a:endParaRPr b="1">
              <a:solidFill>
                <a:srgbClr val="0D9488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Initial models including random slopes resulted in a singular fit (correlation = 1.0). Therefore, a parsimonious random-intercept-only structure was adopted.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4" name="Google Shape;384;g3ac52f647e1_0_89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c6ce8ce3b_2_9"/>
          <p:cNvSpPr txBox="1"/>
          <p:nvPr/>
        </p:nvSpPr>
        <p:spPr>
          <a:xfrm>
            <a:off x="442800" y="403900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Specification</a:t>
            </a:r>
            <a:endParaRPr sz="1100"/>
          </a:p>
        </p:txBody>
      </p:sp>
      <p:sp>
        <p:nvSpPr>
          <p:cNvPr id="391" name="Google Shape;391;g3ac6ce8ce3b_2_9"/>
          <p:cNvSpPr txBox="1"/>
          <p:nvPr/>
        </p:nvSpPr>
        <p:spPr>
          <a:xfrm>
            <a:off x="442800" y="1273738"/>
            <a:ext cx="162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</a:rPr>
              <a:t>RQ1: </a:t>
            </a:r>
            <a:endParaRPr>
              <a:solidFill>
                <a:srgbClr val="0F172A"/>
              </a:solidFill>
            </a:endParaRPr>
          </a:p>
        </p:txBody>
      </p:sp>
      <p:sp>
        <p:nvSpPr>
          <p:cNvPr id="392" name="Google Shape;392;g3ac6ce8ce3b_2_9"/>
          <p:cNvSpPr txBox="1"/>
          <p:nvPr/>
        </p:nvSpPr>
        <p:spPr>
          <a:xfrm>
            <a:off x="442800" y="3009667"/>
            <a:ext cx="162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72A"/>
                </a:solidFill>
              </a:rPr>
              <a:t>RQ2: </a:t>
            </a:r>
            <a:endParaRPr>
              <a:solidFill>
                <a:srgbClr val="0F172A"/>
              </a:solidFill>
            </a:endParaRPr>
          </a:p>
        </p:txBody>
      </p:sp>
      <p:pic>
        <p:nvPicPr>
          <p:cNvPr id="393" name="Google Shape;393;g3ac6ce8ce3b_2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500" y="1253775"/>
            <a:ext cx="6536323" cy="144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ac6ce8ce3b_2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500" y="3052000"/>
            <a:ext cx="6643750" cy="12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ac6ce8ce3b_2_9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c52f647e1_0_0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Results - GLMM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ac96e05bc_0_4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8" name="Google Shape;408;g3aac96e05bc_0_46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RQ1: Model Summary</a:t>
            </a:r>
            <a:endParaRPr sz="1100"/>
          </a:p>
        </p:txBody>
      </p:sp>
      <p:pic>
        <p:nvPicPr>
          <p:cNvPr id="409" name="Google Shape;409;g3aac96e05bc_0_46"/>
          <p:cNvPicPr preferRelativeResize="0"/>
          <p:nvPr/>
        </p:nvPicPr>
        <p:blipFill rotWithShape="1">
          <a:blip r:embed="rId3">
            <a:alphaModFix/>
          </a:blip>
          <a:srcRect b="0" l="0" r="0" t="2257"/>
          <a:stretch/>
        </p:blipFill>
        <p:spPr>
          <a:xfrm>
            <a:off x="1711125" y="1090075"/>
            <a:ext cx="5721725" cy="366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c52f647e1_0_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g3ac52f647e1_0_6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RQ1: 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Diagnostics</a:t>
            </a:r>
            <a:endParaRPr sz="1100"/>
          </a:p>
        </p:txBody>
      </p:sp>
      <p:pic>
        <p:nvPicPr>
          <p:cNvPr id="417" name="Google Shape;417;g3ac52f647e1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700" y="1059125"/>
            <a:ext cx="4914599" cy="370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c52f647e1_0_16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4" name="Google Shape;424;g3ac52f647e1_0_16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RQ1: </a:t>
            </a: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Diagnostics</a:t>
            </a:r>
            <a:endParaRPr sz="1100"/>
          </a:p>
        </p:txBody>
      </p:sp>
      <p:pic>
        <p:nvPicPr>
          <p:cNvPr id="425" name="Google Shape;425;g3ac52f647e1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335" y="1063100"/>
            <a:ext cx="4909324" cy="3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c52f647e1_0_24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g3ac52f647e1_0_24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RQ2: Model Summary</a:t>
            </a:r>
            <a:endParaRPr sz="1100"/>
          </a:p>
        </p:txBody>
      </p:sp>
      <p:pic>
        <p:nvPicPr>
          <p:cNvPr id="433" name="Google Shape;433;g3ac52f647e1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925" y="1068925"/>
            <a:ext cx="5699966" cy="366659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g3ac52f647e1_0_24"/>
          <p:cNvSpPr/>
          <p:nvPr/>
        </p:nvSpPr>
        <p:spPr>
          <a:xfrm>
            <a:off x="1627200" y="1957925"/>
            <a:ext cx="5760000" cy="33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ac52f647e1_0_24"/>
          <p:cNvSpPr/>
          <p:nvPr/>
        </p:nvSpPr>
        <p:spPr>
          <a:xfrm>
            <a:off x="1627200" y="2586588"/>
            <a:ext cx="5760000" cy="33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ac52f647e1_0_24"/>
          <p:cNvSpPr/>
          <p:nvPr/>
        </p:nvSpPr>
        <p:spPr>
          <a:xfrm>
            <a:off x="1627200" y="3215286"/>
            <a:ext cx="5760000" cy="634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ac52f647e1_0_32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g3ac52f647e1_0_32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RQ2: Diagnostics</a:t>
            </a:r>
            <a:endParaRPr sz="1100"/>
          </a:p>
        </p:txBody>
      </p:sp>
      <p:pic>
        <p:nvPicPr>
          <p:cNvPr id="444" name="Google Shape;444;g3ac52f647e1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063" y="1023250"/>
            <a:ext cx="5447875" cy="3744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ac52f647e1_0_4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g3ac52f647e1_0_40"/>
          <p:cNvSpPr txBox="1"/>
          <p:nvPr/>
        </p:nvSpPr>
        <p:spPr>
          <a:xfrm>
            <a:off x="428625" y="42862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RQ2: Diagnostics</a:t>
            </a:r>
            <a:endParaRPr sz="1100"/>
          </a:p>
        </p:txBody>
      </p:sp>
      <p:pic>
        <p:nvPicPr>
          <p:cNvPr id="452" name="Google Shape;452;g3ac52f647e1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637" y="1040225"/>
            <a:ext cx="5423177" cy="372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cf2134afa_1_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g3acf2134afa_1_0"/>
          <p:cNvSpPr txBox="1"/>
          <p:nvPr/>
        </p:nvSpPr>
        <p:spPr>
          <a:xfrm>
            <a:off x="428625" y="447858"/>
            <a:ext cx="39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Summary</a:t>
            </a:r>
            <a:endParaRPr sz="1100"/>
          </a:p>
        </p:txBody>
      </p:sp>
      <p:sp>
        <p:nvSpPr>
          <p:cNvPr id="460" name="Google Shape;460;g3acf2134afa_1_0"/>
          <p:cNvSpPr txBox="1"/>
          <p:nvPr/>
        </p:nvSpPr>
        <p:spPr>
          <a:xfrm>
            <a:off x="428625" y="1285472"/>
            <a:ext cx="39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Takeaways:</a:t>
            </a:r>
            <a:endParaRPr sz="1100"/>
          </a:p>
        </p:txBody>
      </p:sp>
      <p:sp>
        <p:nvSpPr>
          <p:cNvPr id="461" name="Google Shape;461;g3acf2134afa_1_0"/>
          <p:cNvSpPr txBox="1"/>
          <p:nvPr/>
        </p:nvSpPr>
        <p:spPr>
          <a:xfrm>
            <a:off x="428625" y="1750775"/>
            <a:ext cx="3507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RQ1: Logistic GLMM (Poor Cognition)</a:t>
            </a:r>
            <a:endParaRPr b="1" sz="1096"/>
          </a:p>
        </p:txBody>
      </p:sp>
      <p:sp>
        <p:nvSpPr>
          <p:cNvPr id="462" name="Google Shape;462;g3acf2134afa_1_0"/>
          <p:cNvSpPr txBox="1"/>
          <p:nvPr/>
        </p:nvSpPr>
        <p:spPr>
          <a:xfrm>
            <a:off x="428375" y="2027275"/>
            <a:ext cx="44949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significant effects for Education or Visit × Education </a:t>
            </a:r>
            <a:endParaRPr sz="11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ORs unstable with wide CIs</a:t>
            </a:r>
            <a:endParaRPr sz="11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Outcome driven by between-person differences</a:t>
            </a:r>
            <a:endParaRPr sz="11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g3acf2134afa_1_0"/>
          <p:cNvSpPr txBox="1"/>
          <p:nvPr/>
        </p:nvSpPr>
        <p:spPr>
          <a:xfrm>
            <a:off x="5010803" y="1744275"/>
            <a:ext cx="3797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RQ2: Linear Mixed Model (MMSE Score)</a:t>
            </a:r>
            <a:endParaRPr b="1" sz="1096"/>
          </a:p>
        </p:txBody>
      </p:sp>
      <p:sp>
        <p:nvSpPr>
          <p:cNvPr id="464" name="Google Shape;464;g3acf2134afa_1_0"/>
          <p:cNvSpPr txBox="1"/>
          <p:nvPr/>
        </p:nvSpPr>
        <p:spPr>
          <a:xfrm>
            <a:off x="5010650" y="2020775"/>
            <a:ext cx="37974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MMSE declines ~0.6 points per visit </a:t>
            </a:r>
            <a:endParaRPr sz="11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Education: higher baseline MMSE (+1.76) </a:t>
            </a:r>
            <a:endParaRPr sz="11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Medium Education: slower decline</a:t>
            </a:r>
            <a:endParaRPr sz="1096"/>
          </a:p>
        </p:txBody>
      </p:sp>
      <p:sp>
        <p:nvSpPr>
          <p:cNvPr id="465" name="Google Shape;465;g3acf2134afa_1_0"/>
          <p:cNvSpPr txBox="1"/>
          <p:nvPr/>
        </p:nvSpPr>
        <p:spPr>
          <a:xfrm>
            <a:off x="428625" y="3070126"/>
            <a:ext cx="35070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Overall</a:t>
            </a:r>
            <a:endParaRPr b="1" sz="1096"/>
          </a:p>
        </p:txBody>
      </p:sp>
      <p:sp>
        <p:nvSpPr>
          <p:cNvPr id="466" name="Google Shape;466;g3acf2134afa_1_0"/>
          <p:cNvSpPr txBox="1"/>
          <p:nvPr/>
        </p:nvSpPr>
        <p:spPr>
          <a:xfrm>
            <a:off x="428375" y="3346626"/>
            <a:ext cx="72537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Continuous MMSE outcome reveals clear patterns in cognitive decline than the binary outcome</a:t>
            </a:r>
            <a:endParaRPr sz="11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3213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75"/>
              <a:buFont typeface="Inter"/>
              <a:buChar char="●"/>
            </a:pPr>
            <a:r>
              <a:rPr lang="en-US" sz="11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Mixed-effects models effectively capture within-person changes over time</a:t>
            </a:r>
            <a:endParaRPr sz="1096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ac96e05bc_0_22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Discussion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 sz="1800"/>
              <a:t>Speaker: Yini Lu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ac96e05bc_0_53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RQ1 (Binary Outcome: Poor Cognition)</a:t>
            </a:r>
            <a:endParaRPr sz="2400"/>
          </a:p>
        </p:txBody>
      </p:sp>
      <p:sp>
        <p:nvSpPr>
          <p:cNvPr id="479" name="Google Shape;479;g3aac96e05bc_0_53"/>
          <p:cNvSpPr txBox="1"/>
          <p:nvPr>
            <p:ph idx="1" type="body"/>
          </p:nvPr>
        </p:nvSpPr>
        <p:spPr>
          <a:xfrm>
            <a:off x="263525" y="1200150"/>
            <a:ext cx="8619000" cy="356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GLM: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is the only significant protective factor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discrimination (AUC = 0.726)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by strong class imbalance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GEE &amp; GLMM: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models unstable due to quasi-complete separation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few participants transition into poor cognition → insufficient variability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Message: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outcome modeling is 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reliable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capturing longitudinal risk of impairment in this dataset.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g3aac96e05bc_0_53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120da2bfc_7_53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RQ2 (Continuous MMSE Outcome)</a:t>
            </a:r>
            <a:endParaRPr sz="2400"/>
          </a:p>
        </p:txBody>
      </p:sp>
      <p:sp>
        <p:nvSpPr>
          <p:cNvPr id="487" name="Google Shape;487;g39120da2bfc_7_53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GLM 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Cross-sectional change (ΔMMSE) computed only between two timepoints 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loses longitudinal information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making GLM unsuitable for capturing cognitive decline.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GEE (Population-Average)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education gradient: low &lt; medium &lt; high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education: steepest decline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education: highest cognition at all visits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across correlation structures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GLMM(Subject-Specific):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education → higher baseline MMSE; Medium education → slower decline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g39120da2bfc_7_53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ac96e05bc_0_27"/>
          <p:cNvSpPr txBox="1"/>
          <p:nvPr>
            <p:ph idx="1" type="subTitle"/>
          </p:nvPr>
        </p:nvSpPr>
        <p:spPr>
          <a:xfrm>
            <a:off x="263525" y="2169924"/>
            <a:ext cx="861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/>
              <a:t>Conclusion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lang="en-US" sz="1800"/>
              <a:t>Speaker: Yini Lu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aac96e05bc_0_60"/>
          <p:cNvSpPr txBox="1"/>
          <p:nvPr>
            <p:ph type="title"/>
          </p:nvPr>
        </p:nvSpPr>
        <p:spPr>
          <a:xfrm>
            <a:off x="263525" y="164353"/>
            <a:ext cx="8619000" cy="76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Model Suitability</a:t>
            </a:r>
            <a:endParaRPr sz="2400"/>
          </a:p>
        </p:txBody>
      </p:sp>
      <p:sp>
        <p:nvSpPr>
          <p:cNvPr id="501" name="Google Shape;501;g3aac96e05bc_0_60"/>
          <p:cNvSpPr txBox="1"/>
          <p:nvPr>
            <p:ph idx="1" type="body"/>
          </p:nvPr>
        </p:nvSpPr>
        <p:spPr>
          <a:xfrm>
            <a:off x="263526" y="1200150"/>
            <a:ext cx="8619000" cy="328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outcome: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by quasi-complete separation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GLM provides usable results (cross-sectional only)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outcome: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GEE and GLMM outperform GLM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❏"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stable and interpretable trajectories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g3aac96e05bc_0_60"/>
          <p:cNvSpPr txBox="1"/>
          <p:nvPr>
            <p:ph idx="12" type="sldNum"/>
          </p:nvPr>
        </p:nvSpPr>
        <p:spPr>
          <a:xfrm>
            <a:off x="8763000" y="4767263"/>
            <a:ext cx="381000" cy="376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"/>
          <p:cNvSpPr txBox="1"/>
          <p:nvPr>
            <p:ph type="title"/>
          </p:nvPr>
        </p:nvSpPr>
        <p:spPr>
          <a:xfrm>
            <a:off x="628650" y="-993775"/>
            <a:ext cx="7886700" cy="4684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 slide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r Slide 1">
  <a:themeElements>
    <a:clrScheme name="UNC">
      <a:dk1>
        <a:srgbClr val="4B9CD3"/>
      </a:dk1>
      <a:lt1>
        <a:srgbClr val="FFFFFF"/>
      </a:lt1>
      <a:dk2>
        <a:srgbClr val="13294B"/>
      </a:dk2>
      <a:lt2>
        <a:srgbClr val="FFFFFF"/>
      </a:lt2>
      <a:accent1>
        <a:srgbClr val="4B9CD3"/>
      </a:accent1>
      <a:accent2>
        <a:srgbClr val="13294B"/>
      </a:accent2>
      <a:accent3>
        <a:srgbClr val="FFFFFF"/>
      </a:accent3>
      <a:accent4>
        <a:srgbClr val="007FA2"/>
      </a:accent4>
      <a:accent5>
        <a:srgbClr val="E1E1E1"/>
      </a:accent5>
      <a:accent6>
        <a:srgbClr val="767676"/>
      </a:accent6>
      <a:hlink>
        <a:srgbClr val="007FAE"/>
      </a:hlink>
      <a:folHlink>
        <a:srgbClr val="007F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xt">
  <a:themeElements>
    <a:clrScheme name="UNC">
      <a:dk1>
        <a:srgbClr val="4B9CD3"/>
      </a:dk1>
      <a:lt1>
        <a:srgbClr val="FFFFFF"/>
      </a:lt1>
      <a:dk2>
        <a:srgbClr val="13294B"/>
      </a:dk2>
      <a:lt2>
        <a:srgbClr val="FFFFFF"/>
      </a:lt2>
      <a:accent1>
        <a:srgbClr val="4B9CD3"/>
      </a:accent1>
      <a:accent2>
        <a:srgbClr val="13294B"/>
      </a:accent2>
      <a:accent3>
        <a:srgbClr val="FFFFFF"/>
      </a:accent3>
      <a:accent4>
        <a:srgbClr val="007FA2"/>
      </a:accent4>
      <a:accent5>
        <a:srgbClr val="E1E1E1"/>
      </a:accent5>
      <a:accent6>
        <a:srgbClr val="767676"/>
      </a:accent6>
      <a:hlink>
        <a:srgbClr val="007FAE"/>
      </a:hlink>
      <a:folHlink>
        <a:srgbClr val="007F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itle Slide 1">
  <a:themeElements>
    <a:clrScheme name="UNC">
      <a:dk1>
        <a:srgbClr val="4B9CD3"/>
      </a:dk1>
      <a:lt1>
        <a:srgbClr val="FFFFFF"/>
      </a:lt1>
      <a:dk2>
        <a:srgbClr val="13294B"/>
      </a:dk2>
      <a:lt2>
        <a:srgbClr val="FFFFFF"/>
      </a:lt2>
      <a:accent1>
        <a:srgbClr val="4B9CD3"/>
      </a:accent1>
      <a:accent2>
        <a:srgbClr val="13294B"/>
      </a:accent2>
      <a:accent3>
        <a:srgbClr val="FFFFFF"/>
      </a:accent3>
      <a:accent4>
        <a:srgbClr val="007FA2"/>
      </a:accent4>
      <a:accent5>
        <a:srgbClr val="E1E1E1"/>
      </a:accent5>
      <a:accent6>
        <a:srgbClr val="767676"/>
      </a:accent6>
      <a:hlink>
        <a:srgbClr val="007FAE"/>
      </a:hlink>
      <a:folHlink>
        <a:srgbClr val="007F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losing Slide">
  <a:themeElements>
    <a:clrScheme name="UNC">
      <a:dk1>
        <a:srgbClr val="4B9CD3"/>
      </a:dk1>
      <a:lt1>
        <a:srgbClr val="FFFFFF"/>
      </a:lt1>
      <a:dk2>
        <a:srgbClr val="13294B"/>
      </a:dk2>
      <a:lt2>
        <a:srgbClr val="FFFFFF"/>
      </a:lt2>
      <a:accent1>
        <a:srgbClr val="4B9CD3"/>
      </a:accent1>
      <a:accent2>
        <a:srgbClr val="13294B"/>
      </a:accent2>
      <a:accent3>
        <a:srgbClr val="FFFFFF"/>
      </a:accent3>
      <a:accent4>
        <a:srgbClr val="007FA2"/>
      </a:accent4>
      <a:accent5>
        <a:srgbClr val="E1E1E1"/>
      </a:accent5>
      <a:accent6>
        <a:srgbClr val="767676"/>
      </a:accent6>
      <a:hlink>
        <a:srgbClr val="007FAE"/>
      </a:hlink>
      <a:folHlink>
        <a:srgbClr val="007F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2025-11-28T19:04:26Z</dcterms:created>
  <dc:creator>Diana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99A3955A1860BAEDE2EF29692593B333_43</vt:lpwstr>
  </property>
  <property fmtid="{D5CDD505-2E9C-101B-9397-08002B2CF9AE}" pid="4" name="KSOProductBuildVer">
    <vt:lpwstr>1033-6.6.0.8801</vt:lpwstr>
  </property>
</Properties>
</file>